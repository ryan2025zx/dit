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66" r:id="rId2"/>
    <p:sldId id="277" r:id="rId3"/>
    <p:sldId id="282" r:id="rId4"/>
    <p:sldId id="261" r:id="rId5"/>
  </p:sldIdLst>
  <p:sldSz cx="9144000" cy="6858000" type="screen4x3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6750" autoAdjust="0"/>
    <p:restoredTop sz="72145" autoAdjust="0"/>
  </p:normalViewPr>
  <p:slideViewPr>
    <p:cSldViewPr>
      <p:cViewPr varScale="1">
        <p:scale>
          <a:sx n="54" d="100"/>
          <a:sy n="54" d="100"/>
        </p:scale>
        <p:origin x="936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charset="-128"/>
                <a:cs typeface="ＭＳ Ｐゴシック" charset="-128"/>
              </a:defRPr>
            </a:lvl1pPr>
          </a:lstStyle>
          <a:p>
            <a:fld id="{AD89B261-CED5-EB42-835A-F26B273B0E71}" type="datetimeFigureOut">
              <a:rPr lang="en-AU"/>
              <a:pPr/>
              <a:t>28/09/2024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A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charset="-128"/>
                <a:cs typeface="ＭＳ Ｐゴシック" charset="-128"/>
              </a:defRPr>
            </a:lvl1pPr>
          </a:lstStyle>
          <a:p>
            <a:fld id="{102DF18C-6A63-B24E-AF5F-A519C8524551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75987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0CB6724-459F-354E-9568-B35463C2E93F}" type="slidenum">
              <a:rPr lang="en-US"/>
              <a:pPr/>
              <a:t>1</a:t>
            </a:fld>
            <a:endParaRPr lang="en-US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>
                <a:ea typeface="ＭＳ Ｐゴシック" charset="-128"/>
                <a:cs typeface="ＭＳ Ｐゴシック" charset="-128"/>
              </a:rPr>
              <a:t>Most of what I am talking about is covered in the guidelines for use, found</a:t>
            </a:r>
            <a:r>
              <a:rPr lang="en-US" baseline="0" dirty="0">
                <a:ea typeface="ＭＳ Ｐゴシック" charset="-128"/>
                <a:cs typeface="ＭＳ Ｐゴシック" charset="-128"/>
              </a:rPr>
              <a:t> at the front of the RDA.</a:t>
            </a:r>
            <a:endParaRPr lang="en-US" dirty="0">
              <a:ea typeface="ＭＳ Ｐゴシック" charset="-128"/>
              <a:cs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lvl="1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AU" sz="2000" dirty="0"/>
              <a:t>The University of Melbourne Records Retention and Disposal Authority (RDA) is 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</a:pPr>
            <a:endParaRPr lang="en-AU" sz="2000" i="1" dirty="0"/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AU" sz="2000" i="1" dirty="0"/>
              <a:t>“…the University document that sets out requirements for retention and disposal of all types of records, in line with legislative requirements and University business needs…”</a:t>
            </a:r>
            <a:r>
              <a:rPr lang="en-AU" sz="2000" dirty="0"/>
              <a:t> 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AU" sz="2000" dirty="0"/>
              <a:t>(Records Management Policy MPF1106)</a:t>
            </a:r>
          </a:p>
          <a:p>
            <a:pPr marL="742950" lvl="1" indent="-285750" eaLnBrk="1" hangingPunct="1">
              <a:lnSpc>
                <a:spcPct val="80000"/>
              </a:lnSpc>
              <a:spcBef>
                <a:spcPct val="20000"/>
              </a:spcBef>
              <a:buFontTx/>
              <a:buChar char="–"/>
            </a:pPr>
            <a:endParaRPr lang="en-AU" sz="2000" dirty="0"/>
          </a:p>
          <a:p>
            <a:pPr marL="800100" lvl="1" indent="-342900" eaLnBrk="1" hangingPunct="1"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AU" sz="2000" dirty="0"/>
              <a:t>Records Services is responsible for developing the RDA </a:t>
            </a:r>
          </a:p>
          <a:p>
            <a:pPr marL="800100" lvl="1" indent="-342900" eaLnBrk="1" hangingPunct="1"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AU" sz="2000" dirty="0"/>
              <a:t>The University Archivist, Legal Services and the Director, Internal Audit are also consulted</a:t>
            </a:r>
          </a:p>
          <a:p>
            <a:pPr marL="800100" lvl="1" indent="-342900" eaLnBrk="1" hangingPunct="1"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AU" sz="2000" dirty="0"/>
              <a:t>The final document is approved by the University Secretary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AU" sz="2000" dirty="0"/>
              <a:t>(Records Management Policy MPF 1106, Records Retention and Disposal Procedure MPF1109)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2DF18C-6A63-B24E-AF5F-A519C8524551}" type="slidenum">
              <a:rPr lang="en-AU" smtClean="0"/>
              <a:pPr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2595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purpose of the RDA is to provide a legal mechanism for the retention &amp; disposal of university records in accordance with legislative instruments and regulations issued under the </a:t>
            </a:r>
            <a:r>
              <a:rPr lang="en-AU" i="1" dirty="0"/>
              <a:t>Public Records Act </a:t>
            </a:r>
            <a:r>
              <a:rPr lang="en-AU" dirty="0"/>
              <a:t>1973. </a:t>
            </a:r>
          </a:p>
          <a:p>
            <a:r>
              <a:rPr lang="en-AU" dirty="0"/>
              <a:t>The Authority also -</a:t>
            </a:r>
          </a:p>
          <a:p>
            <a:r>
              <a:rPr lang="en-AU" dirty="0"/>
              <a:t>identifies records which are required to be preserved permanently as part of the University’s archival heritage; </a:t>
            </a:r>
          </a:p>
          <a:p>
            <a:r>
              <a:rPr lang="en-AU" dirty="0"/>
              <a:t>prevents the premature destruction of records which need to be retained for a specified period to satisfy legal, financial and other requirements of public administration; </a:t>
            </a:r>
          </a:p>
          <a:p>
            <a:r>
              <a:rPr lang="en-AU" dirty="0"/>
              <a:t>specifies the minimum, and in some cases maximum, periods for which records are required to be retained; </a:t>
            </a:r>
          </a:p>
          <a:p>
            <a:r>
              <a:rPr lang="en-AU" dirty="0"/>
              <a:t>authorises the destruction of those records not required permanently; and </a:t>
            </a:r>
          </a:p>
          <a:p>
            <a:r>
              <a:rPr lang="en-AU" dirty="0"/>
              <a:t>mandates the prompt destruction of records as required under the </a:t>
            </a:r>
            <a:r>
              <a:rPr lang="en-AU" i="1" dirty="0"/>
              <a:t>Information Privacy Act 2000 </a:t>
            </a:r>
            <a:r>
              <a:rPr lang="en-AU" dirty="0"/>
              <a:t>and other instruments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2DF18C-6A63-B24E-AF5F-A519C8524551}" type="slidenum">
              <a:rPr lang="en-AU" smtClean="0"/>
              <a:pPr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0042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2DF18C-6A63-B24E-AF5F-A519C8524551}" type="slidenum">
              <a:rPr lang="en-AU" smtClean="0"/>
              <a:pPr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9272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 userDrawn="1"/>
        </p:nvSpPr>
        <p:spPr bwMode="auto">
          <a:xfrm>
            <a:off x="1812925" y="107950"/>
            <a:ext cx="0" cy="86201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-107" charset="0"/>
            </a:endParaRPr>
          </a:p>
        </p:txBody>
      </p:sp>
      <p:sp>
        <p:nvSpPr>
          <p:cNvPr id="5" name="Line 5"/>
          <p:cNvSpPr>
            <a:spLocks noChangeShapeType="1"/>
          </p:cNvSpPr>
          <p:nvPr userDrawn="1"/>
        </p:nvSpPr>
        <p:spPr bwMode="auto">
          <a:xfrm>
            <a:off x="2743200" y="107950"/>
            <a:ext cx="1588" cy="51911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-107" charset="0"/>
            </a:endParaRPr>
          </a:p>
        </p:txBody>
      </p:sp>
      <p:pic>
        <p:nvPicPr>
          <p:cNvPr id="6" name="Picture 9" descr="5011_PPT_BG_EndPage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588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3144838" y="1785938"/>
            <a:ext cx="1587" cy="1312862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-107" charset="0"/>
            </a:endParaRPr>
          </a:p>
        </p:txBody>
      </p:sp>
      <p:pic>
        <p:nvPicPr>
          <p:cNvPr id="8" name="Picture 13" descr="UOM-Rev3D_S_sm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1546225" y="1752600"/>
            <a:ext cx="1347788" cy="1366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3352800" y="1905000"/>
            <a:ext cx="5486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2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609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"/>
            <a:ext cx="2019300" cy="6019800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905500" cy="6019800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Line 8"/>
          <p:cNvSpPr>
            <a:spLocks noChangeShapeType="1"/>
          </p:cNvSpPr>
          <p:nvPr userDrawn="1"/>
        </p:nvSpPr>
        <p:spPr bwMode="auto">
          <a:xfrm>
            <a:off x="1812925" y="107950"/>
            <a:ext cx="0" cy="86201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-107" charset="0"/>
            </a:endParaRPr>
          </a:p>
        </p:txBody>
      </p:sp>
      <p:pic>
        <p:nvPicPr>
          <p:cNvPr id="1027" name="Picture 9" descr="UOM-Rev3D_S_sm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533400" y="119063"/>
            <a:ext cx="860425" cy="871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003368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1035" name="Line 11"/>
          <p:cNvSpPr>
            <a:spLocks noChangeShapeType="1"/>
          </p:cNvSpPr>
          <p:nvPr userDrawn="1"/>
        </p:nvSpPr>
        <p:spPr bwMode="auto">
          <a:xfrm>
            <a:off x="2743200" y="107950"/>
            <a:ext cx="1588" cy="51911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-107" charset="0"/>
            </a:endParaRPr>
          </a:p>
        </p:txBody>
      </p:sp>
      <p:pic>
        <p:nvPicPr>
          <p:cNvPr id="1030" name="Picture 13" descr="UOM-Rev3D_H_sm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152400" y="107950"/>
            <a:ext cx="236220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8" name="Line 14"/>
          <p:cNvSpPr>
            <a:spLocks noChangeShapeType="1"/>
          </p:cNvSpPr>
          <p:nvPr userDrawn="1"/>
        </p:nvSpPr>
        <p:spPr bwMode="auto">
          <a:xfrm>
            <a:off x="0" y="6400800"/>
            <a:ext cx="9144000" cy="0"/>
          </a:xfrm>
          <a:prstGeom prst="line">
            <a:avLst/>
          </a:prstGeom>
          <a:noFill/>
          <a:ln w="9525">
            <a:solidFill>
              <a:srgbClr val="003368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-107" charset="0"/>
            </a:endParaRPr>
          </a:p>
        </p:txBody>
      </p:sp>
      <p:sp>
        <p:nvSpPr>
          <p:cNvPr id="1040" name="Rectangle 16"/>
          <p:cNvSpPr>
            <a:spLocks noChangeArrowheads="1"/>
          </p:cNvSpPr>
          <p:nvPr userDrawn="1"/>
        </p:nvSpPr>
        <p:spPr bwMode="auto">
          <a:xfrm>
            <a:off x="0" y="838200"/>
            <a:ext cx="9144000" cy="76200"/>
          </a:xfrm>
          <a:prstGeom prst="rect">
            <a:avLst/>
          </a:prstGeom>
          <a:solidFill>
            <a:srgbClr val="759FB8"/>
          </a:solidFill>
          <a:ln w="9525">
            <a:noFill/>
            <a:miter lim="800000"/>
            <a:headEnd/>
            <a:tailEnd/>
          </a:ln>
          <a:effectLst>
            <a:outerShdw algn="ctr" rotWithShape="0">
              <a:srgbClr val="808080">
                <a:alpha val="45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1033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2971800" y="76200"/>
            <a:ext cx="5791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1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8"/>
          <p:cNvSpPr>
            <a:spLocks noChangeArrowheads="1"/>
          </p:cNvSpPr>
          <p:nvPr/>
        </p:nvSpPr>
        <p:spPr bwMode="auto">
          <a:xfrm>
            <a:off x="6423025" y="-369888"/>
            <a:ext cx="184150" cy="457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75" name="Rectangle 21"/>
          <p:cNvSpPr>
            <a:spLocks noGrp="1" noChangeArrowheads="1"/>
          </p:cNvSpPr>
          <p:nvPr>
            <p:ph type="ctrTitle" sz="quarter"/>
          </p:nvPr>
        </p:nvSpPr>
        <p:spPr>
          <a:xfrm>
            <a:off x="3218895" y="1828800"/>
            <a:ext cx="5715000" cy="1295400"/>
          </a:xfrm>
        </p:spPr>
        <p:txBody>
          <a:bodyPr/>
          <a:lstStyle/>
          <a:p>
            <a:pPr eaLnBrk="1" hangingPunct="1"/>
            <a:r>
              <a:rPr lang="en-US" altLang="zh-CN" dirty="0"/>
              <a:t>Title of the presentation</a:t>
            </a:r>
            <a:endParaRPr lang="en-US" dirty="0"/>
          </a:p>
        </p:txBody>
      </p:sp>
      <p:sp>
        <p:nvSpPr>
          <p:cNvPr id="3076" name="Rectangle 2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218895" y="3657600"/>
            <a:ext cx="5091113" cy="400050"/>
          </a:xfrm>
        </p:spPr>
        <p:txBody>
          <a:bodyPr/>
          <a:lstStyle/>
          <a:p>
            <a:pPr algn="l"/>
            <a:r>
              <a:rPr lang="en-US" sz="1800" dirty="0">
                <a:solidFill>
                  <a:srgbClr val="DAEDEF"/>
                </a:solidFill>
              </a:rPr>
              <a:t>Jobs</a:t>
            </a:r>
            <a:endParaRPr lang="en-US" dirty="0">
              <a:solidFill>
                <a:srgbClr val="DAEDE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76200"/>
            <a:ext cx="5943600" cy="685800"/>
          </a:xfrm>
        </p:spPr>
        <p:txBody>
          <a:bodyPr/>
          <a:lstStyle/>
          <a:p>
            <a:pPr eaLnBrk="1" hangingPunct="1"/>
            <a:r>
              <a:rPr lang="en-AU" dirty="0"/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527271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5011_PPT_BG_EndPag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 descr="UOM-Rev3D_S_sm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57600" y="1676400"/>
            <a:ext cx="180657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FA8B11-1E07-D156-6500-D5413E62E767}"/>
              </a:ext>
            </a:extLst>
          </p:cNvPr>
          <p:cNvSpPr txBox="1"/>
          <p:nvPr/>
        </p:nvSpPr>
        <p:spPr>
          <a:xfrm>
            <a:off x="3828956" y="4376354"/>
            <a:ext cx="1463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schemeClr val="bg1"/>
                </a:solidFill>
              </a:rPr>
              <a:t>Thanks!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7" charset="0"/>
            <a:ea typeface="ＭＳ Ｐゴシック" pitchFamily="-107" charset="-128"/>
            <a:cs typeface="ＭＳ Ｐゴシック" pitchFamily="-107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7" charset="0"/>
            <a:ea typeface="ＭＳ Ｐゴシック" pitchFamily="-107" charset="-128"/>
            <a:cs typeface="ＭＳ Ｐゴシック" pitchFamily="-107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259</Words>
  <Application>Microsoft Office PowerPoint</Application>
  <PresentationFormat>On-screen Show (4:3)</PresentationFormat>
  <Paragraphs>26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ＭＳ Ｐゴシック</vt:lpstr>
      <vt:lpstr>Arial</vt:lpstr>
      <vt:lpstr>Calibri</vt:lpstr>
      <vt:lpstr>Blank Presentation</vt:lpstr>
      <vt:lpstr>Title of the presentation</vt:lpstr>
      <vt:lpstr>Introduction</vt:lpstr>
      <vt:lpstr>Content</vt:lpstr>
      <vt:lpstr>PowerPoint Presentation</vt:lpstr>
    </vt:vector>
  </TitlesOfParts>
  <Company>UHJ Di Marca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Theo Stavrou</dc:creator>
  <cp:lastModifiedBy>Runzhou Chen</cp:lastModifiedBy>
  <cp:revision>74</cp:revision>
  <cp:lastPrinted>2013-09-09T23:19:22Z</cp:lastPrinted>
  <dcterms:created xsi:type="dcterms:W3CDTF">2011-07-18T01:25:54Z</dcterms:created>
  <dcterms:modified xsi:type="dcterms:W3CDTF">2024-09-28T04:46:50Z</dcterms:modified>
</cp:coreProperties>
</file>